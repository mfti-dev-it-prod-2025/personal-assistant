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Gil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GillSans-bold.fntdata"/><Relationship Id="rId16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e99494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1e99494e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21d5918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21d5918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ru-RU"/>
              <a:t>ПРИЛОЖЕНИЕ </a:t>
            </a:r>
            <a:br>
              <a:rPr lang="ru-RU"/>
            </a:br>
            <a:r>
              <a:rPr lang="ru-RU"/>
              <a:t>«ЛИЧНЫЙ ПОМОЩНИК»</a:t>
            </a:r>
            <a:endParaRPr/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ru-RU"/>
              <a:t>ПРОЕКТ КОМАНДЫ №5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066800" y="2295144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b="1" lang="ru-RU"/>
              <a:t>Зеленцов Андрей </a:t>
            </a:r>
            <a:r>
              <a:rPr lang="ru-RU"/>
              <a:t>– технический лидер, блок авторизации и аутентификации, пользователи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lang="ru-RU"/>
              <a:t>Шипетина Ольга </a:t>
            </a:r>
            <a:r>
              <a:rPr lang="ru-RU"/>
              <a:t>– организационный лидер, разработчик, блок «Бюджет»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lang="ru-RU"/>
              <a:t>Бондаренко Сергей </a:t>
            </a:r>
            <a:r>
              <a:rPr lang="ru-RU"/>
              <a:t>– разработчик, блок «События»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lang="ru-RU"/>
              <a:t>Кушнир Дмитрий </a:t>
            </a:r>
            <a:r>
              <a:rPr lang="ru-RU"/>
              <a:t>– разработчик, блок TODO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lang="ru-RU"/>
              <a:t>Харитонова Александра </a:t>
            </a:r>
            <a:r>
              <a:rPr lang="ru-RU"/>
              <a:t>– разработчик, блок «Заметки»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КОМАНДА ПРОЕКТА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ФУНКЦИОНАЛ ПРИЛОЖЕНИЯ «ЛИЧНЫЙ ПОМОЩНИК»</a:t>
            </a:r>
            <a:endParaRPr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395006" y="2107154"/>
            <a:ext cx="11029616" cy="44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rPr b="1" i="0" lang="ru-RU">
                <a:solidFill>
                  <a:srgbClr val="1F2328"/>
                </a:solidFill>
              </a:rPr>
              <a:t>Личный помощник </a:t>
            </a:r>
            <a:r>
              <a:rPr i="0" lang="ru-RU">
                <a:solidFill>
                  <a:srgbClr val="1F2328"/>
                </a:solidFill>
              </a:rPr>
              <a:t>— веб‑сервис для управления личными финансами, заметками, задачами и событиями через единое API.</a:t>
            </a:r>
            <a:endParaRPr b="1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906"/>
              </a:spcBef>
              <a:spcAft>
                <a:spcPts val="0"/>
              </a:spcAft>
              <a:buSzPct val="91999"/>
              <a:buNone/>
            </a:pPr>
            <a:r>
              <a:rPr b="1" lang="ru-RU">
                <a:solidFill>
                  <a:srgbClr val="1F2328"/>
                </a:solidFill>
              </a:rPr>
              <a:t>Основной функционал приложения:</a:t>
            </a:r>
            <a:endParaRPr b="1" i="0">
              <a:solidFill>
                <a:srgbClr val="1F2328"/>
              </a:solidFill>
            </a:endParaRPr>
          </a:p>
          <a:p>
            <a:pPr indent="-306000" lvl="0" marL="306000" rtl="0" algn="l">
              <a:spcBef>
                <a:spcPts val="906"/>
              </a:spcBef>
              <a:spcAft>
                <a:spcPts val="0"/>
              </a:spcAft>
              <a:buSzPct val="91999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Бюджетирование: </a:t>
            </a:r>
            <a:r>
              <a:rPr lang="ru-RU">
                <a:solidFill>
                  <a:srgbClr val="1F2328"/>
                </a:solidFill>
              </a:rPr>
              <a:t>учет</a:t>
            </a:r>
            <a:r>
              <a:rPr i="0" lang="ru-RU">
                <a:solidFill>
                  <a:srgbClr val="1F2328"/>
                </a:solidFill>
              </a:rPr>
              <a:t> транзакций (доходы/расходы)</a:t>
            </a:r>
            <a:endParaRPr/>
          </a:p>
          <a:p>
            <a:pPr indent="-306000" lvl="0" marL="306000" rtl="0" algn="l">
              <a:spcBef>
                <a:spcPts val="906"/>
              </a:spcBef>
              <a:spcAft>
                <a:spcPts val="0"/>
              </a:spcAft>
              <a:buSzPct val="91999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Задачи: создание, редактирование, удаление и просмотр</a:t>
            </a:r>
            <a:endParaRPr/>
          </a:p>
          <a:p>
            <a:pPr indent="-306000" lvl="0" marL="306000" rtl="0" algn="l">
              <a:spcBef>
                <a:spcPts val="906"/>
              </a:spcBef>
              <a:spcAft>
                <a:spcPts val="0"/>
              </a:spcAft>
              <a:buSzPct val="91999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Заметки: создание, редактирование, удаление и просмотр</a:t>
            </a:r>
            <a:endParaRPr/>
          </a:p>
          <a:p>
            <a:pPr indent="-306000" lvl="0" marL="306000" rtl="0" algn="l">
              <a:spcBef>
                <a:spcPts val="906"/>
              </a:spcBef>
              <a:spcAft>
                <a:spcPts val="0"/>
              </a:spcAft>
              <a:buSzPct val="91999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События: создание, редактирование, удаление, просмотр и напоминания</a:t>
            </a:r>
            <a:endParaRPr/>
          </a:p>
          <a:p>
            <a:pPr indent="-306000" lvl="0" marL="306000" rtl="0" algn="l">
              <a:spcBef>
                <a:spcPts val="906"/>
              </a:spcBef>
              <a:spcAft>
                <a:spcPts val="0"/>
              </a:spcAft>
              <a:buSzPct val="91999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Безопасность:</a:t>
            </a:r>
            <a:endParaRPr/>
          </a:p>
          <a:p>
            <a:pPr indent="-285750" lvl="1" marL="742950" rtl="0" algn="l">
              <a:spcBef>
                <a:spcPts val="872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регистрация и аутентификация (JWT)</a:t>
            </a:r>
            <a:endParaRPr/>
          </a:p>
          <a:p>
            <a:pPr indent="-285750" lvl="1" marL="742950" rtl="0" algn="l">
              <a:spcBef>
                <a:spcPts val="872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ролевая модель доступа</a:t>
            </a:r>
            <a:endParaRPr/>
          </a:p>
          <a:p>
            <a:pPr indent="-306000" lvl="0" marL="306000" rtl="0" algn="l">
              <a:spcBef>
                <a:spcPts val="906"/>
              </a:spcBef>
              <a:spcAft>
                <a:spcPts val="0"/>
              </a:spcAft>
              <a:buSzPct val="91999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API:</a:t>
            </a:r>
            <a:endParaRPr/>
          </a:p>
          <a:p>
            <a:pPr indent="-285750" lvl="1" marL="742950" rtl="0" algn="l">
              <a:spcBef>
                <a:spcPts val="872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REST API с документацией (Swagger UI / Redoc)</a:t>
            </a:r>
            <a:endParaRPr/>
          </a:p>
          <a:p>
            <a:pPr indent="-285750" lvl="1" marL="742950" rtl="0" algn="l">
              <a:spcBef>
                <a:spcPts val="872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поддержка JSON‑формата</a:t>
            </a:r>
            <a:endParaRPr/>
          </a:p>
          <a:p>
            <a:pPr indent="-285750" lvl="1" marL="742950" rtl="0" algn="l">
              <a:spcBef>
                <a:spcPts val="872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версионирование</a:t>
            </a:r>
            <a:endParaRPr i="0">
              <a:solidFill>
                <a:srgbClr val="1F2328"/>
              </a:solidFill>
            </a:endParaRPr>
          </a:p>
          <a:p>
            <a:pPr indent="-285750" lvl="1" marL="742950" rtl="0" algn="l">
              <a:spcBef>
                <a:spcPts val="872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готовые Pydantic‑схемы</a:t>
            </a:r>
            <a:endParaRPr/>
          </a:p>
          <a:p>
            <a:pPr indent="0" lvl="0" marL="0" rtl="0" algn="l">
              <a:spcBef>
                <a:spcPts val="872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ТЕХНИЧЕСКИЙ СТЕК ПРИЛОЖЕНИЯ «ЛИЧНЫЙ ПОМОЩНИК»</a:t>
            </a:r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917" y="1849077"/>
            <a:ext cx="4360509" cy="500892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103925" y="2107150"/>
            <a:ext cx="6847800" cy="4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Язык и фреймворк</a:t>
            </a:r>
            <a:r>
              <a:rPr i="0" lang="ru-RU">
                <a:solidFill>
                  <a:srgbClr val="1F2328"/>
                </a:solidFill>
              </a:rPr>
              <a:t>: Python 3.12, FastAPI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БД и ORM</a:t>
            </a:r>
            <a:r>
              <a:rPr i="0" lang="ru-RU">
                <a:solidFill>
                  <a:srgbClr val="1F2328"/>
                </a:solidFill>
              </a:rPr>
              <a:t>: PostgreSQL 16+, SQLModel (SQLAlchemy), asyncpg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Миграции</a:t>
            </a:r>
            <a:r>
              <a:rPr i="0" lang="ru-RU">
                <a:solidFill>
                  <a:srgbClr val="1F2328"/>
                </a:solidFill>
              </a:rPr>
              <a:t>: Alembic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Конфигурация</a:t>
            </a:r>
            <a:r>
              <a:rPr i="0" lang="ru-RU">
                <a:solidFill>
                  <a:srgbClr val="1F2328"/>
                </a:solidFill>
              </a:rPr>
              <a:t>: Dynaconf + Pydantic‑модели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Сервер</a:t>
            </a:r>
            <a:r>
              <a:rPr i="0" lang="ru-RU">
                <a:solidFill>
                  <a:srgbClr val="1F2328"/>
                </a:solidFill>
              </a:rPr>
              <a:t>: uvicorn (fastapi CLI)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Тестирование</a:t>
            </a:r>
            <a:r>
              <a:rPr i="0" lang="ru-RU">
                <a:solidFill>
                  <a:srgbClr val="1F2328"/>
                </a:solidFill>
              </a:rPr>
              <a:t>:</a:t>
            </a:r>
            <a:endParaRPr/>
          </a:p>
          <a:p>
            <a:pPr indent="-285750" lvl="1" marL="742950" rtl="0" algn="l">
              <a:spcBef>
                <a:spcPts val="896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юнит‑тесты: pytest, pytest-asyncio;</a:t>
            </a:r>
            <a:endParaRPr/>
          </a:p>
          <a:p>
            <a:pPr indent="-285750" lvl="1" marL="742950" rtl="0" algn="l">
              <a:spcBef>
                <a:spcPts val="896"/>
              </a:spcBef>
              <a:spcAft>
                <a:spcPts val="0"/>
              </a:spcAft>
              <a:buSzPct val="92000"/>
              <a:buFont typeface="Gill Sans"/>
              <a:buChar char="•"/>
            </a:pPr>
            <a:r>
              <a:rPr i="0" lang="ru-RU">
                <a:solidFill>
                  <a:srgbClr val="1F2328"/>
                </a:solidFill>
              </a:rPr>
              <a:t>интеграционные </a:t>
            </a:r>
            <a:r>
              <a:rPr lang="ru-RU">
                <a:solidFill>
                  <a:srgbClr val="1F2328"/>
                </a:solidFill>
              </a:rPr>
              <a:t>тесты</a:t>
            </a:r>
            <a:r>
              <a:rPr i="0" lang="ru-RU">
                <a:solidFill>
                  <a:srgbClr val="1F2328"/>
                </a:solidFill>
              </a:rPr>
              <a:t>: testcontainers (PostgreSQL).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Качество кода</a:t>
            </a:r>
            <a:r>
              <a:rPr i="0" lang="ru-RU">
                <a:solidFill>
                  <a:srgbClr val="1F2328"/>
                </a:solidFill>
              </a:rPr>
              <a:t>: ruff (форматирование+линтер), mypy (типизация)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Пакетный менеджер</a:t>
            </a:r>
            <a:r>
              <a:rPr i="0" lang="ru-RU">
                <a:solidFill>
                  <a:srgbClr val="1F2328"/>
                </a:solidFill>
              </a:rPr>
              <a:t>: Poetry 2.x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Контейнеризация</a:t>
            </a:r>
            <a:r>
              <a:rPr i="0" lang="ru-RU">
                <a:solidFill>
                  <a:srgbClr val="1F2328"/>
                </a:solidFill>
              </a:rPr>
              <a:t>: Docker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b="1" i="0" lang="ru-RU">
                <a:solidFill>
                  <a:srgbClr val="1F2328"/>
                </a:solidFill>
              </a:rPr>
              <a:t>CI/CD</a:t>
            </a:r>
            <a:r>
              <a:rPr i="0" lang="ru-RU">
                <a:solidFill>
                  <a:srgbClr val="1F2328"/>
                </a:solidFill>
              </a:rPr>
              <a:t>: GitHub Actions, GNU Make</a:t>
            </a:r>
            <a:endParaRPr/>
          </a:p>
          <a:p>
            <a:pPr indent="0" lvl="0" marL="0" rtl="0" algn="l">
              <a:spcBef>
                <a:spcPts val="896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БЛОК АВТОРИЗАЦИЯ И АУТЕНТИФИКАЦИЯ</a:t>
            </a:r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581200" y="2180500"/>
            <a:ext cx="44115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Реализован backend-сервис аутентификации и авторизации с ролевой моделью доступа (RBAC) и проверкой прав через scopes.</a:t>
            </a:r>
            <a:br>
              <a:rPr lang="ru-RU" sz="1600">
                <a:solidFill>
                  <a:schemeClr val="dk1"/>
                </a:solidFill>
              </a:rPr>
            </a:br>
            <a:r>
              <a:rPr lang="ru-RU" sz="1600">
                <a:solidFill>
                  <a:schemeClr val="dk1"/>
                </a:solidFill>
              </a:rPr>
              <a:t> Доступ к API контролируется до выполнения бизнес-логики, поддерживается фильтрация и пагинация.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Особенности реализации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ru-RU" sz="1600">
                <a:solidFill>
                  <a:schemeClr val="dk1"/>
                </a:solidFill>
              </a:rPr>
              <a:t>Авторизация на основе ролей и scopes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ru-RU" sz="1600">
                <a:solidFill>
                  <a:schemeClr val="dk1"/>
                </a:solidFill>
              </a:rPr>
              <a:t>Контроль доступа к эндпоинтам до вызова бизнес-логики - интеграция с FastAPI Security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ru-RU" sz="1600">
                <a:solidFill>
                  <a:schemeClr val="dk1"/>
                </a:solidFill>
              </a:rPr>
              <a:t>Расширяемая модель параметров запроса (поддержка фильтрации, limit/offset).</a:t>
            </a:r>
            <a:br>
              <a:rPr lang="ru-RU" sz="1600">
                <a:solidFill>
                  <a:schemeClr val="dk1"/>
                </a:solidFill>
              </a:rPr>
            </a:br>
            <a:endParaRPr sz="1600"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5915238" y="1998250"/>
            <a:ext cx="5835000" cy="41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</a:rPr>
              <a:t>Эндпоинты аутентификации (/auth)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</a:rPr>
              <a:t>POST /auth/token – аутентификация пользователя по логину и паролю</a:t>
            </a:r>
            <a:br>
              <a:rPr lang="ru-RU" sz="1600">
                <a:solidFill>
                  <a:schemeClr val="dk1"/>
                </a:solidFill>
              </a:rPr>
            </a:br>
            <a:r>
              <a:rPr lang="ru-RU" sz="1600">
                <a:solidFill>
                  <a:schemeClr val="dk1"/>
                </a:solidFill>
              </a:rPr>
              <a:t> ( OAuth2 Password Flow, выдача access token )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</a:rPr>
              <a:t>Эндпоинты пользователей (/users)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</a:rPr>
              <a:t>GET /users – получить список пользователей с фильтрами</a:t>
            </a:r>
            <a:br>
              <a:rPr lang="ru-RU" sz="1600">
                <a:solidFill>
                  <a:schemeClr val="dk1"/>
                </a:solidFill>
              </a:rPr>
            </a:br>
            <a:r>
              <a:rPr lang="ru-RU" sz="1600">
                <a:solidFill>
                  <a:schemeClr val="dk1"/>
                </a:solidFill>
              </a:rPr>
              <a:t> ( id, email, telegram_id, роль, имя, частичное совпадение, limit / offset 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</a:rPr>
              <a:t>GET /users/me – получить данные текущего аутентифицированного пользователя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</a:rPr>
              <a:t>POST /users – создать нового пользователя</a:t>
            </a:r>
            <a:endParaRPr b="1" sz="1600">
              <a:solidFill>
                <a:schemeClr val="dk1"/>
              </a:solidFill>
            </a:endParaRPr>
          </a:p>
          <a:p>
            <a:pPr indent="-200844" lvl="0" marL="30600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БЛОК БЮДЖЕТ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1069848" y="1721224"/>
            <a:ext cx="4029277" cy="44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472"/>
              <a:buChar char="◼"/>
            </a:pPr>
            <a:r>
              <a:rPr b="1" lang="ru-RU" sz="1600"/>
              <a:t>Функционал блока: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Управление расходами и категориями пользователя (CRUD)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Фильтрация расходов по дате и категории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Асинхронная работа с базой данных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Валидация данных через Pydantic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Доступ только для авторизованных пользователей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600"/>
          </a:p>
        </p:txBody>
      </p:sp>
      <p:sp>
        <p:nvSpPr>
          <p:cNvPr id="130" name="Google Shape;130;p18"/>
          <p:cNvSpPr txBox="1"/>
          <p:nvPr/>
        </p:nvSpPr>
        <p:spPr>
          <a:xfrm>
            <a:off x="5097053" y="2060089"/>
            <a:ext cx="6513755" cy="4980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548"/>
              </a:buClr>
              <a:buSzPts val="1360"/>
              <a:buFont typeface="Gill Sans"/>
              <a:buChar char="▪"/>
            </a:pPr>
            <a:r>
              <a:rPr b="1" i="0" lang="ru-RU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Эндпоинты расходов (/expenses):</a:t>
            </a:r>
            <a:endParaRPr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GET /expenses – получить расход по id или name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GET /expenses/all – получить список расходов с фильтрами (категория, даты)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POST /expenses – создать новый расход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PUT /expenses/{expense_id} – обновить расход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DELETE /expenses/{expense_id} – удалить расход</a:t>
            </a:r>
            <a:b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360"/>
              <a:buFont typeface="Gill Sans"/>
              <a:buChar char="▪"/>
            </a:pPr>
            <a:r>
              <a:rPr b="1" i="0" lang="ru-RU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Эндпоинты категорий (/expenses/category):</a:t>
            </a:r>
            <a:endParaRPr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GET /category – получить категорию по id или name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GET /category/all – получить все категории пользователя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POST /category – создать категорию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PUT /category/{category_name} – обновить категорию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18288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190"/>
              <a:buFont typeface="Gill Sans"/>
              <a:buChar char="•"/>
            </a:pPr>
            <a:r>
              <a:rPr i="0" lang="ru-RU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DELETE /category/{category_name} – удалить категорию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360"/>
              <a:buFont typeface="Noto Sans Symbols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БЛОК ЗАМЕТКИ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09795" y="2123250"/>
            <a:ext cx="43659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472"/>
              <a:buFont typeface="Gill Sans"/>
              <a:buChar char="●"/>
            </a:pPr>
            <a:r>
              <a:rPr b="1" lang="ru-RU" sz="1600">
                <a:solidFill>
                  <a:srgbClr val="000000"/>
                </a:solidFill>
              </a:rPr>
              <a:t>Функционал блока:</a:t>
            </a:r>
            <a:endParaRPr sz="1600">
              <a:solidFill>
                <a:srgbClr val="000000"/>
              </a:solidFill>
            </a:endParaRPr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Gill Sans"/>
              <a:buChar char="•"/>
            </a:pPr>
            <a:r>
              <a:rPr lang="ru-RU" sz="1600">
                <a:solidFill>
                  <a:srgbClr val="000000"/>
                </a:solidFill>
              </a:rPr>
              <a:t>Управление заметками (CRUD)</a:t>
            </a:r>
            <a:endParaRPr sz="1400">
              <a:solidFill>
                <a:srgbClr val="000000"/>
              </a:solidFill>
            </a:endParaRPr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Gill Sans"/>
              <a:buChar char="•"/>
            </a:pPr>
            <a:r>
              <a:rPr lang="ru-RU" sz="1600">
                <a:solidFill>
                  <a:srgbClr val="000000"/>
                </a:solidFill>
              </a:rPr>
              <a:t>Асинхронная работа с базой данных</a:t>
            </a:r>
            <a:endParaRPr sz="1400">
              <a:solidFill>
                <a:srgbClr val="000000"/>
              </a:solidFill>
            </a:endParaRPr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Gill Sans"/>
              <a:buChar char="•"/>
            </a:pPr>
            <a:r>
              <a:rPr lang="ru-RU" sz="1600">
                <a:solidFill>
                  <a:srgbClr val="000000"/>
                </a:solidFill>
              </a:rPr>
              <a:t>Валидация данных через Pydantic</a:t>
            </a:r>
            <a:endParaRPr sz="1600">
              <a:solidFill>
                <a:srgbClr val="000000"/>
              </a:solidFill>
            </a:endParaRPr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Gill Sans"/>
              <a:buChar char="•"/>
            </a:pPr>
            <a:r>
              <a:rPr lang="ru-RU" sz="1600">
                <a:solidFill>
                  <a:srgbClr val="000000"/>
                </a:solidFill>
              </a:rPr>
              <a:t>Доступ только для авторизованных пользователей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-200844" lvl="0" marL="30600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5857875" y="2533650"/>
            <a:ext cx="575280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81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ill Sans"/>
              <a:buChar char="▪"/>
            </a:pPr>
            <a:r>
              <a:rPr b="1"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Эндпоинты заметок (/notes):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08915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GET /notes – получить все заметки пользователя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08915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GET</a:t>
            </a: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/notes/{id} – получить содержимое конкретной заметки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08915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POST</a:t>
            </a: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/notes – создать заметку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08915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548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PUT</a:t>
            </a: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/notes/{id} – обновить содержимое заметки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08915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•"/>
            </a:pPr>
            <a:r>
              <a:rPr lang="ru-RU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DELETE /notes/{id} - удалить заметку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БЛОК  ЗАДАЧИ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581192" y="2180496"/>
            <a:ext cx="5172837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472"/>
              <a:buChar char="◼"/>
            </a:pPr>
            <a:r>
              <a:rPr b="1" lang="ru-RU" sz="1600"/>
              <a:t>Функционал блока: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Управление задачами пользователя (CRUD)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Получение статистики по задачам пользователя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Асинхронная работа с базой данных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Валидация данных через Pydantic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Доступ только для авторизованных пользователей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600"/>
          </a:p>
        </p:txBody>
      </p:sp>
      <p:sp>
        <p:nvSpPr>
          <p:cNvPr id="144" name="Google Shape;144;p20"/>
          <p:cNvSpPr txBox="1"/>
          <p:nvPr/>
        </p:nvSpPr>
        <p:spPr>
          <a:xfrm>
            <a:off x="5963514" y="2180495"/>
            <a:ext cx="5172837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◼"/>
            </a:pPr>
            <a:r>
              <a:rPr b="1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Эндпоинты (/tasks):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•"/>
            </a:pPr>
            <a:r>
              <a:rPr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GET /tasks – получить список задач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•"/>
            </a:pPr>
            <a:r>
              <a:rPr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GET /tasks/{task_id} – получить задачу по ID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•"/>
            </a:pPr>
            <a:r>
              <a:rPr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POST /tasks – создать новую задачу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•"/>
            </a:pPr>
            <a:r>
              <a:rPr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PUT /tasks/{task_id} – обновить задачу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•"/>
            </a:pPr>
            <a:r>
              <a:rPr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DELETE /tasks/{task_id} – удалить задачу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Gill Sans"/>
              <a:buChar char="•"/>
            </a:pPr>
            <a:r>
              <a:rPr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GET /tasks/stats/me – получить статистику по задачам текущего пользователя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t/>
            </a:r>
            <a:endParaRPr i="0" sz="1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БЛОК  СОБЫТИЯ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581192" y="2180496"/>
            <a:ext cx="51729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472"/>
              <a:buChar char="◼"/>
            </a:pPr>
            <a:r>
              <a:rPr b="1" lang="ru-RU" sz="1600"/>
              <a:t>Функционал блока: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Управление </a:t>
            </a:r>
            <a:r>
              <a:rPr lang="ru-RU" sz="1600"/>
              <a:t>событиями</a:t>
            </a:r>
            <a:r>
              <a:rPr lang="ru-RU" sz="1600"/>
              <a:t> пользователя (CRUD)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Асинхронная работа с базой данных</a:t>
            </a:r>
            <a:endParaRPr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Валидация данных через Pydantic</a:t>
            </a:r>
            <a:endParaRPr sz="1600"/>
          </a:p>
          <a:p>
            <a:pPr indent="-306000" lvl="0" marL="306000" rtl="0" algn="l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600"/>
              <a:t>Доступ только для авторизованных пользователей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600"/>
          </a:p>
        </p:txBody>
      </p:sp>
      <p:sp>
        <p:nvSpPr>
          <p:cNvPr id="151" name="Google Shape;151;p21"/>
          <p:cNvSpPr txBox="1"/>
          <p:nvPr/>
        </p:nvSpPr>
        <p:spPr>
          <a:xfrm>
            <a:off x="5963514" y="2180495"/>
            <a:ext cx="51729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b="1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Эндпоинты (/</a:t>
            </a:r>
            <a:r>
              <a:rPr b="1"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events</a:t>
            </a:r>
            <a:r>
              <a:rPr b="1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):</a:t>
            </a:r>
            <a:endParaRPr/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•"/>
            </a:pP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GET /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events –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получить список 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событий</a:t>
            </a:r>
            <a:endParaRPr/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•"/>
            </a:pP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GET /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events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/{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_id} – получить 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событие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по ID</a:t>
            </a:r>
            <a:endParaRPr/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•"/>
            </a:pP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POST /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events 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– создать нов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ое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событие</a:t>
            </a:r>
            <a:endParaRPr/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•"/>
            </a:pP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PUT /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events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/{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event_id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} – обновить 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событие</a:t>
            </a:r>
            <a:endParaRPr/>
          </a:p>
          <a:p>
            <a:pPr indent="-306000" lvl="0" marL="30600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•"/>
            </a:pP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DELETE /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events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/{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event_id</a:t>
            </a:r>
            <a:r>
              <a:rPr b="0" i="0" lang="ru-RU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} – удалить </a:t>
            </a:r>
            <a:r>
              <a:rPr lang="ru-RU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событие</a:t>
            </a:r>
            <a:endParaRPr/>
          </a:p>
          <a:p>
            <a:pPr indent="0" lvl="0" marL="0" marR="0" rtl="0" algn="l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Схема таблиц в базе данных</a:t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900" y="1915606"/>
            <a:ext cx="9444116" cy="4837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2602098" y="2967335"/>
            <a:ext cx="698781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5400" u="none" cap="none" strike="noStrike">
                <a:solidFill>
                  <a:srgbClr val="C1D1EE"/>
                </a:solidFill>
                <a:latin typeface="Gill Sans"/>
                <a:ea typeface="Gill Sans"/>
                <a:cs typeface="Gill Sans"/>
                <a:sym typeface="Gill Sans"/>
              </a:rPr>
              <a:t>Спасибо за внимание!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C1D1E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Дивиденд">
  <a:themeElements>
    <a:clrScheme name="Дивиденд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